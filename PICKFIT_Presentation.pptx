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D0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1800000">
            <a:off x="7315200" y="-914400"/>
            <a:ext cx="5486400" cy="5486400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89120" y="1463040"/>
            <a:ext cx="2377440" cy="347472"/>
          </a:xfrm>
          <a:prstGeom prst="roundRect">
            <a:avLst/>
          </a:prstGeom>
          <a:solidFill>
            <a:srgbClr val="3A1A7A"/>
          </a:solidFill>
          <a:ln w="6350">
            <a:solidFill>
              <a:srgbClr val="3A1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480559" y="1499616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A78BFA"/>
                </a:solidFill>
              </a:rPr>
              <a:t>AI 피팅룸, 픽핏  ·  PICK FIT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0332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</a:rPr>
              <a:t>픽!  한 번에 핏!</a:t>
            </a:r>
          </a:p>
          <a:p>
            <a:pPr algn="ctr"/>
            <a:r>
              <a:rPr sz="2400" b="0">
                <a:solidFill>
                  <a:srgbClr val="E879F9"/>
                </a:solidFill>
              </a:rPr>
              <a:t>입어보고 사세요. AI로, 지금 바로.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77799"/>
                </a:solidFill>
              </a:rPr>
              <a:t>Pi Network 생태계 기반 AI 가상 피팅 서비스  ·  Boutique (KANG SEONGSHIN)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4846320"/>
            <a:ext cx="6675120" cy="1828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2377440" cy="347472"/>
          </a:xfrm>
          <a:prstGeom prst="roundRect">
            <a:avLst/>
          </a:prstGeom>
          <a:solidFill>
            <a:srgbClr val="3A1A7A"/>
          </a:solidFill>
          <a:ln w="6350">
            <a:solidFill>
              <a:srgbClr val="3A1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02336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A78BFA"/>
                </a:solidFill>
              </a:rPr>
              <a:t>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한국 패션 앱에</a:t>
            </a:r>
          </a:p>
          <a:p>
            <a:pPr algn="ctr"/>
            <a:r>
              <a:rPr sz="3200" b="1">
                <a:solidFill>
                  <a:srgbClr val="E879F9"/>
                </a:solidFill>
              </a:rPr>
              <a:t>가상 피팅이 없다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331720"/>
            <a:ext cx="2651760" cy="3566160"/>
          </a:xfrm>
          <a:prstGeom prst="roundRect">
            <a:avLst/>
          </a:prstGeom>
          <a:solidFill>
            <a:srgbClr val="1E1E30"/>
          </a:solidFill>
          <a:ln w="6350">
            <a:solidFill>
              <a:srgbClr val="3A1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49631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90779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반품률 30% 이상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273552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999BB"/>
                </a:solidFill>
              </a:rPr>
              <a:t>• 사이즈·핏 불일치로 의류 반품 1위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511296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999BB"/>
                </a:solidFill>
              </a:rPr>
              <a:t>• 소비자·판매자 모두 손실 발생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2331720"/>
            <a:ext cx="2651760" cy="3566160"/>
          </a:xfrm>
          <a:prstGeom prst="roundRect">
            <a:avLst/>
          </a:prstGeom>
          <a:solidFill>
            <a:srgbClr val="1E1E30"/>
          </a:solidFill>
          <a:ln w="6350">
            <a:solidFill>
              <a:srgbClr val="3A1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249631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90779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주요 플랫폼 미지원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3273552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999BB"/>
                </a:solidFill>
              </a:rPr>
              <a:t>• 무신사·29CM·지그재그·W컨셉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3511296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999BB"/>
                </a:solidFill>
              </a:rPr>
              <a:t>• AI 피팅 기능 전무 — Blue Ocean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331720"/>
            <a:ext cx="2651760" cy="3566160"/>
          </a:xfrm>
          <a:prstGeom prst="roundRect">
            <a:avLst/>
          </a:prstGeom>
          <a:solidFill>
            <a:srgbClr val="1E1E30"/>
          </a:solidFill>
          <a:ln w="6350">
            <a:solidFill>
              <a:srgbClr val="3A1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249631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90779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충동구매 &amp; 후회 반복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3273552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999BB"/>
                </a:solidFill>
              </a:rPr>
              <a:t>• 입어보지 못하고 구매 → 반품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511296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999BB"/>
                </a:solidFill>
              </a:rPr>
              <a:t>• 소비자 신뢰도 하락 &amp; 환경 낭비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0" y="2331720"/>
            <a:ext cx="2651760" cy="3566160"/>
          </a:xfrm>
          <a:prstGeom prst="roundRect">
            <a:avLst/>
          </a:prstGeom>
          <a:solidFill>
            <a:srgbClr val="1E1E30"/>
          </a:solidFill>
          <a:ln w="6350">
            <a:solidFill>
              <a:srgbClr val="3A1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81160" y="249631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60" y="290779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글로벌 선점 기회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60" y="3273552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999BB"/>
                </a:solidFill>
              </a:rPr>
              <a:t>• 글로벌 경쟁사 한국 진출 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60" y="3511296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999BB"/>
                </a:solidFill>
              </a:rPr>
              <a:t>• 지금이 선점의 최적 타이밍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0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2377440" cy="347472"/>
          </a:xfrm>
          <a:prstGeom prst="roundRect">
            <a:avLst/>
          </a:prstGeom>
          <a:solidFill>
            <a:srgbClr val="3A1A7A"/>
          </a:solidFill>
          <a:ln w="6350">
            <a:solidFill>
              <a:srgbClr val="3A1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02336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A78BFA"/>
                </a:solidFill>
              </a:rPr>
              <a:t>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</a:rPr>
              <a:t>PICK FIT</a:t>
            </a:r>
          </a:p>
          <a:p>
            <a:pPr algn="ctr"/>
            <a:r>
              <a:rPr sz="3200" b="1">
                <a:solidFill>
                  <a:srgbClr val="E879F9"/>
                </a:solidFill>
              </a:rPr>
              <a:t>AI 가상 피팅룸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2468880"/>
            <a:ext cx="9966960" cy="3474720"/>
          </a:xfrm>
          <a:prstGeom prst="roundRect">
            <a:avLst/>
          </a:prstGeom>
          <a:solidFill>
            <a:srgbClr val="281050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606040"/>
            <a:ext cx="9418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999BB"/>
                </a:solidFill>
              </a:rPr>
              <a:t>쇼핑몰 URL 하나만 붙여넣으면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990088"/>
            <a:ext cx="9418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내 사진 위에 옷을 AI가 직접 입혀드립니다.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374136"/>
            <a:ext cx="9418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57016"/>
            <a:ext cx="9418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999BB"/>
                </a:solidFill>
              </a:rPr>
              <a:t>무신사 · 29CM · 지그재그 · 쿠팡 등  모든 쇼핑몰  지원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941064"/>
            <a:ext cx="9418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999BB"/>
                </a:solidFill>
              </a:rPr>
              <a:t>상의 · 하의 · 원피스 · 아우터  카테고리별 정밀 피팅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325112"/>
            <a:ext cx="9418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999BB"/>
                </a:solidFill>
              </a:rPr>
              <a:t>화면 캡쳐 → 드래그 영역 선택  · 이미지 직접 업로드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709160"/>
            <a:ext cx="9418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999BB"/>
                </a:solidFill>
              </a:rPr>
              <a:t>결과는  저장 · 다른 옷 입어보기  까지 한 번에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2377440" cy="347472"/>
          </a:xfrm>
          <a:prstGeom prst="roundRect">
            <a:avLst/>
          </a:prstGeom>
          <a:solidFill>
            <a:srgbClr val="3A1A7A"/>
          </a:solidFill>
          <a:ln w="6350">
            <a:solidFill>
              <a:srgbClr val="3A1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02336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A78BFA"/>
                </a:solidFill>
              </a:rPr>
              <a:t>CORE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MVP</a:t>
            </a:r>
          </a:p>
          <a:p>
            <a:pPr algn="ctr"/>
            <a:r>
              <a:rPr sz="3000" b="1">
                <a:solidFill>
                  <a:srgbClr val="E879F9"/>
                </a:solidFill>
              </a:rPr>
              <a:t>7개 핵심 화면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2331720"/>
            <a:ext cx="1389888" cy="3474720"/>
          </a:xfrm>
          <a:prstGeom prst="roundRect">
            <a:avLst/>
          </a:prstGeom>
          <a:solidFill>
            <a:srgbClr val="1E1E30"/>
          </a:solidFill>
          <a:ln w="6350">
            <a:solidFill>
              <a:srgbClr val="3A1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2423160"/>
            <a:ext cx="13898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A78BFA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788920"/>
            <a:ext cx="13898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3337560"/>
            <a:ext cx="138988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로그인 · 회원가입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19072" y="2331720"/>
            <a:ext cx="1389888" cy="3474720"/>
          </a:xfrm>
          <a:prstGeom prst="roundRect">
            <a:avLst/>
          </a:prstGeom>
          <a:solidFill>
            <a:srgbClr val="1E1E30"/>
          </a:solidFill>
          <a:ln w="6350">
            <a:solidFill>
              <a:srgbClr val="3A1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19072" y="2423160"/>
            <a:ext cx="13898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A78BFA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19072" y="2788920"/>
            <a:ext cx="13898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19072" y="3337560"/>
            <a:ext cx="138988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홈 · 피팅 피드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63824" y="2331720"/>
            <a:ext cx="1389888" cy="3474720"/>
          </a:xfrm>
          <a:prstGeom prst="roundRect">
            <a:avLst/>
          </a:prstGeom>
          <a:solidFill>
            <a:srgbClr val="1E1E30"/>
          </a:solidFill>
          <a:ln w="6350">
            <a:solidFill>
              <a:srgbClr val="3A1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63824" y="2423160"/>
            <a:ext cx="13898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A78BFA"/>
                </a:solidFill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63824" y="2788920"/>
            <a:ext cx="13898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✂️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63824" y="3337560"/>
            <a:ext cx="138988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아이템 추가
URL·업로드·캡쳐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08576" y="2331720"/>
            <a:ext cx="1389888" cy="3474720"/>
          </a:xfrm>
          <a:prstGeom prst="roundRect">
            <a:avLst/>
          </a:prstGeom>
          <a:solidFill>
            <a:srgbClr val="1E1E30"/>
          </a:solidFill>
          <a:ln w="6350">
            <a:solidFill>
              <a:srgbClr val="3A1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08576" y="2423160"/>
            <a:ext cx="13898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A78BFA"/>
                </a:solidFill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08576" y="2788920"/>
            <a:ext cx="13898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08576" y="3337560"/>
            <a:ext cx="138988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AI 피팅 로딩
팁·단계 애니메이션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53328" y="2331720"/>
            <a:ext cx="1389888" cy="3474720"/>
          </a:xfrm>
          <a:prstGeom prst="roundRect">
            <a:avLst/>
          </a:prstGeom>
          <a:solidFill>
            <a:srgbClr val="1E1E30"/>
          </a:solidFill>
          <a:ln w="6350">
            <a:solidFill>
              <a:srgbClr val="3A1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53328" y="2423160"/>
            <a:ext cx="13898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A78BFA"/>
                </a:solidFill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53328" y="2788920"/>
            <a:ext cx="13898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53328" y="3337560"/>
            <a:ext cx="138988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피팅 결과
저장 · 다른 옷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80" y="2331720"/>
            <a:ext cx="1389888" cy="3474720"/>
          </a:xfrm>
          <a:prstGeom prst="roundRect">
            <a:avLst/>
          </a:prstGeom>
          <a:solidFill>
            <a:srgbClr val="1E1E30"/>
          </a:solidFill>
          <a:ln w="6350">
            <a:solidFill>
              <a:srgbClr val="3A1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0" y="2423160"/>
            <a:ext cx="13898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A78BFA"/>
                </a:solidFill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0" y="2788920"/>
            <a:ext cx="13898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0" y="3337560"/>
            <a:ext cx="138988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옷장 (워드로브)
삭제 · 필터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42832" y="2331720"/>
            <a:ext cx="1389888" cy="3474720"/>
          </a:xfrm>
          <a:prstGeom prst="roundRect">
            <a:avLst/>
          </a:prstGeom>
          <a:solidFill>
            <a:srgbClr val="1E1E30"/>
          </a:solidFill>
          <a:ln w="6350">
            <a:solidFill>
              <a:srgbClr val="3A1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42832" y="2423160"/>
            <a:ext cx="13898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A78BFA"/>
                </a:solidFill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42832" y="2788920"/>
            <a:ext cx="13898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42832" y="3337560"/>
            <a:ext cx="138988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프로필 · 구독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387584" y="2331720"/>
            <a:ext cx="1389888" cy="3474720"/>
          </a:xfrm>
          <a:prstGeom prst="roundRect">
            <a:avLst/>
          </a:prstGeom>
          <a:solidFill>
            <a:srgbClr val="281050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387584" y="2423160"/>
            <a:ext cx="13898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A78BFA"/>
                </a:solidFill>
              </a:rPr>
              <a:t>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87584" y="2788920"/>
            <a:ext cx="13898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🗑️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87584" y="3337560"/>
            <a:ext cx="138988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피팅 기록 관리
자동 삭제 Cron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0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2377440" cy="347472"/>
          </a:xfrm>
          <a:prstGeom prst="roundRect">
            <a:avLst/>
          </a:prstGeom>
          <a:solidFill>
            <a:srgbClr val="3A1A7A"/>
          </a:solidFill>
          <a:ln w="6350">
            <a:solidFill>
              <a:srgbClr val="3A1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02336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A78BFA"/>
                </a:solidFill>
              </a:rPr>
              <a:t>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기술 스택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148840"/>
            <a:ext cx="3657600" cy="4389120"/>
          </a:xfrm>
          <a:prstGeom prst="roundRect">
            <a:avLst/>
          </a:prstGeom>
          <a:solidFill>
            <a:srgbClr val="1E1E30"/>
          </a:solidFill>
          <a:ln w="6350">
            <a:solidFill>
              <a:srgbClr val="3A1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</a:rPr>
              <a:t>Frontend / 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43200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999BB"/>
                </a:solidFill>
              </a:rPr>
              <a:t>  Next.js 14  (App Router)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27248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999BB"/>
                </a:solidFill>
              </a:rPr>
              <a:t>  TypeScript  Strict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511296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999BB"/>
                </a:solidFill>
              </a:rPr>
              <a:t>  Tailwind CSS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895344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999BB"/>
                </a:solidFill>
              </a:rPr>
              <a:t>  Server Actions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279392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999BB"/>
                </a:solidFill>
              </a:rPr>
              <a:t>  Vercel 배포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2148840"/>
            <a:ext cx="3657600" cy="4389120"/>
          </a:xfrm>
          <a:prstGeom prst="roundRect">
            <a:avLst/>
          </a:prstGeom>
          <a:solidFill>
            <a:srgbClr val="1E1E30"/>
          </a:solidFill>
          <a:ln w="6350">
            <a:solidFill>
              <a:srgbClr val="3A1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228600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</a:rPr>
              <a:t>Database / Auth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743200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999BB"/>
                </a:solidFill>
              </a:rPr>
              <a:t>  Supabase PostgreSQL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3127248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999BB"/>
                </a:solidFill>
              </a:rPr>
              <a:t>  Supabase Auth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3511296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999BB"/>
                </a:solidFill>
              </a:rPr>
              <a:t>  Supabase Storage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3895344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999BB"/>
                </a:solidFill>
              </a:rPr>
              <a:t>  Row Level Security (RLS)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4279392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999BB"/>
                </a:solidFill>
              </a:rPr>
              <a:t>  Admin SDK (서버 전용)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2148840"/>
            <a:ext cx="3657600" cy="4389120"/>
          </a:xfrm>
          <a:prstGeom prst="roundRect">
            <a:avLst/>
          </a:prstGeom>
          <a:solidFill>
            <a:srgbClr val="1E1E30"/>
          </a:solidFill>
          <a:ln w="6350">
            <a:solidFill>
              <a:srgbClr val="3A1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228600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</a:rPr>
              <a:t>AI · API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743200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999BB"/>
                </a:solidFill>
              </a:rPr>
              <a:t>  IDM-VTON via Replicate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3127248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999BB"/>
                </a:solidFill>
              </a:rPr>
              <a:t>  → Fashn.ai 상용 전환 예정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3511296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999BB"/>
                </a:solidFill>
              </a:rPr>
              <a:t>  비동기 폴링 아키텍처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3895344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999BB"/>
                </a:solidFill>
              </a:rPr>
              <a:t>  Provider 추상화 패턴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4279392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999BB"/>
                </a:solidFill>
              </a:rPr>
              <a:t>  카카오 SDK (결과 공유)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2377440" cy="347472"/>
          </a:xfrm>
          <a:prstGeom prst="roundRect">
            <a:avLst/>
          </a:prstGeom>
          <a:solidFill>
            <a:srgbClr val="3A1A7A"/>
          </a:solidFill>
          <a:ln w="6350">
            <a:solidFill>
              <a:srgbClr val="3A1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02336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A78BFA"/>
                </a:solidFill>
              </a:rPr>
              <a:t>BUSINESS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요금제 구조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94560"/>
            <a:ext cx="2560320" cy="3291840"/>
          </a:xfrm>
          <a:prstGeom prst="roundRect">
            <a:avLst/>
          </a:prstGeom>
          <a:solidFill>
            <a:srgbClr val="1E1E30"/>
          </a:solidFill>
          <a:ln w="6350">
            <a:solidFill>
              <a:srgbClr val="3A1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A78BFA"/>
                </a:solidFill>
              </a:rPr>
              <a:t>FREE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34640"/>
            <a:ext cx="2560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₩0</a:t>
            </a:r>
            <a:r>
              <a:rPr sz="1300">
                <a:solidFill>
                  <a:srgbClr val="9999BB"/>
                </a:solidFill>
              </a:rPr>
              <a:t>/월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2044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999BB"/>
                </a:solidFill>
              </a:rPr>
              <a:t>월 3회 피팅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2194560"/>
            <a:ext cx="2560320" cy="3291840"/>
          </a:xfrm>
          <a:prstGeom prst="roundRect">
            <a:avLst/>
          </a:prstGeom>
          <a:solidFill>
            <a:srgbClr val="3B1A7A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237744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A78BFA"/>
                </a:solidFill>
              </a:rPr>
              <a:t>BASIC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2834640"/>
            <a:ext cx="2560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₩4,900</a:t>
            </a:r>
            <a:r>
              <a:rPr sz="1300">
                <a:solidFill>
                  <a:srgbClr val="9999BB"/>
                </a:solidFill>
              </a:rPr>
              <a:t>/월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352044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999BB"/>
                </a:solidFill>
              </a:rPr>
              <a:t>월 20회 피팅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393192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879F9"/>
                </a:solidFill>
              </a:rPr>
              <a:t>★ 인기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194560"/>
            <a:ext cx="2560320" cy="3291840"/>
          </a:xfrm>
          <a:prstGeom prst="roundRect">
            <a:avLst/>
          </a:prstGeom>
          <a:solidFill>
            <a:srgbClr val="1E1E30"/>
          </a:solidFill>
          <a:ln w="6350">
            <a:solidFill>
              <a:srgbClr val="3A1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237744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A78BFA"/>
                </a:solidFill>
              </a:rPr>
              <a:t>PRO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834640"/>
            <a:ext cx="2560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₩9,900</a:t>
            </a:r>
            <a:r>
              <a:rPr sz="1300">
                <a:solidFill>
                  <a:srgbClr val="9999BB"/>
                </a:solidFill>
              </a:rPr>
              <a:t>/월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352044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999BB"/>
                </a:solidFill>
              </a:rPr>
              <a:t>월 30~50회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61120" y="2194560"/>
            <a:ext cx="2560320" cy="3291840"/>
          </a:xfrm>
          <a:prstGeom prst="roundRect">
            <a:avLst/>
          </a:prstGeom>
          <a:solidFill>
            <a:srgbClr val="1E1E30"/>
          </a:solidFill>
          <a:ln w="6350">
            <a:solidFill>
              <a:srgbClr val="3A1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0" y="237744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A78BFA"/>
                </a:solidFill>
              </a:rPr>
              <a:t>CREDIT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2834640"/>
            <a:ext cx="2560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₩4,900</a:t>
            </a:r>
            <a:r>
              <a:rPr sz="1300">
                <a:solidFill>
                  <a:srgbClr val="9999BB"/>
                </a:solidFill>
              </a:rPr>
              <a:t>/1회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0" y="352044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999BB"/>
                </a:solidFill>
              </a:rPr>
              <a:t>10회 크레딧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76072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777799"/>
                </a:solidFill>
              </a:rPr>
              <a:t>Phase 3 Pi 연동 시 · Basic = 4,000 PICK (≈₩4,000, 18% 할인)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0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2377440" cy="347472"/>
          </a:xfrm>
          <a:prstGeom prst="roundRect">
            <a:avLst/>
          </a:prstGeom>
          <a:solidFill>
            <a:srgbClr val="3A1A7A"/>
          </a:solidFill>
          <a:ln w="6350">
            <a:solidFill>
              <a:srgbClr val="3A1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02336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A78BFA"/>
                </a:solidFill>
              </a:rPr>
              <a:t>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시장 규모 &amp; 타겟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194560"/>
            <a:ext cx="2743200" cy="3840480"/>
          </a:xfrm>
          <a:prstGeom prst="roundRect">
            <a:avLst/>
          </a:prstGeom>
          <a:solidFill>
            <a:srgbClr val="1E1E30"/>
          </a:solidFill>
          <a:ln w="6350">
            <a:solidFill>
              <a:srgbClr val="3A1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33172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879F9"/>
                </a:solidFill>
              </a:rPr>
              <a:t>20조+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97180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국내 온라인 패션 시장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429000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999BB"/>
                </a:solidFill>
              </a:rPr>
              <a:t>• 2024년 기준 시장 규모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721608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999BB"/>
                </a:solidFill>
              </a:rPr>
              <a:t>• 연 10% 이상 성장 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2194560"/>
            <a:ext cx="2743200" cy="3840480"/>
          </a:xfrm>
          <a:prstGeom prst="roundRect">
            <a:avLst/>
          </a:prstGeom>
          <a:solidFill>
            <a:srgbClr val="1E1E30"/>
          </a:solidFill>
          <a:ln w="6350">
            <a:solidFill>
              <a:srgbClr val="3A1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233172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879F9"/>
                </a:solidFill>
              </a:rPr>
              <a:t>20~30대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97180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핵심 타겟 여성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3429000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999BB"/>
                </a:solidFill>
              </a:rPr>
              <a:t>• 온라인 패션 구매 1위 연령대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3721608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999BB"/>
                </a:solidFill>
              </a:rPr>
              <a:t>• AI 기술 수용도 높음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194560"/>
            <a:ext cx="2743200" cy="3840480"/>
          </a:xfrm>
          <a:prstGeom prst="roundRect">
            <a:avLst/>
          </a:prstGeom>
          <a:solidFill>
            <a:srgbClr val="1E1E30"/>
          </a:solidFill>
          <a:ln w="6350">
            <a:solidFill>
              <a:srgbClr val="3A1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233172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879F9"/>
                </a:solidFill>
              </a:rPr>
              <a:t>MAU 2,500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97180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손익분기점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3429000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999BB"/>
                </a:solidFill>
              </a:rPr>
              <a:t>• 유료 전환율 5% 기준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721608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999BB"/>
                </a:solidFill>
              </a:rPr>
              <a:t>• MAU 10,000명에서 흑자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0" y="2194560"/>
            <a:ext cx="2743200" cy="3840480"/>
          </a:xfrm>
          <a:prstGeom prst="roundRect">
            <a:avLst/>
          </a:prstGeom>
          <a:solidFill>
            <a:srgbClr val="1E1E30"/>
          </a:solidFill>
          <a:ln w="6350">
            <a:solidFill>
              <a:srgbClr val="3A1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81160" y="233172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879F9"/>
                </a:solidFill>
              </a:rPr>
              <a:t>$0.03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60" y="297180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피팅 1회 원가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60" y="3429000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999BB"/>
                </a:solidFill>
              </a:rPr>
              <a:t>• Kolors API 기준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60" y="3721608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999BB"/>
                </a:solidFill>
              </a:rPr>
              <a:t>• 구독 모델로 마진 확보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2377440" cy="347472"/>
          </a:xfrm>
          <a:prstGeom prst="roundRect">
            <a:avLst/>
          </a:prstGeom>
          <a:solidFill>
            <a:srgbClr val="3A1A7A"/>
          </a:solidFill>
          <a:ln w="6350">
            <a:solidFill>
              <a:srgbClr val="3A1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02336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A78BFA"/>
                </a:solidFill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개발 로드맵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2194560"/>
            <a:ext cx="2743200" cy="4297680"/>
          </a:xfrm>
          <a:prstGeom prst="roundRect">
            <a:avLst/>
          </a:prstGeom>
          <a:solidFill>
            <a:srgbClr val="3B1A7A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2304288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78BFA"/>
                </a:solidFill>
              </a:rPr>
              <a:t>PHASE 1 · MVP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263347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현재 진행 중 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3063240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BB"/>
                </a:solidFill>
              </a:rPr>
              <a:t>→ 이메일 로그인 + Supabase Auth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3374136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BB"/>
                </a:solidFill>
              </a:rPr>
              <a:t>→ AI 가상 피팅 (IDM-VTON)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3685032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BB"/>
                </a:solidFill>
              </a:rPr>
              <a:t>→ 화면 캡쳐 · 영역 선택 기능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3995928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BB"/>
                </a:solidFill>
              </a:rPr>
              <a:t>→ 옷장 · 피팅 기록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4306824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BB"/>
                </a:solidFill>
              </a:rPr>
              <a:t>→ 6월 런칭 목표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46120" y="2194560"/>
            <a:ext cx="2743200" cy="4297680"/>
          </a:xfrm>
          <a:prstGeom prst="roundRect">
            <a:avLst/>
          </a:prstGeom>
          <a:solidFill>
            <a:srgbClr val="1E1E30"/>
          </a:solidFill>
          <a:ln w="6350">
            <a:solidFill>
              <a:srgbClr val="3A1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79" y="2304288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78BFA"/>
                </a:solidFill>
              </a:rPr>
              <a:t>PHASE 2 · 3~6개월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79" y="263347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기능 확장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79" y="3063240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BB"/>
                </a:solidFill>
              </a:rPr>
              <a:t>→ 친구 초대 시스템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79" y="3374136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BB"/>
                </a:solidFill>
              </a:rPr>
              <a:t>→ 쇼핑몰 제휴 확대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79" y="3685032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BB"/>
                </a:solidFill>
              </a:rPr>
              <a:t>→ AI 스타일 추천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79" y="3995928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BB"/>
                </a:solidFill>
              </a:rPr>
              <a:t>→ 구독 결제 연동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79" y="4306824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BB"/>
                </a:solidFill>
              </a:rPr>
              <a:t>→ Fashn.ai 전환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2194560"/>
            <a:ext cx="2743200" cy="4297680"/>
          </a:xfrm>
          <a:prstGeom prst="roundRect">
            <a:avLst/>
          </a:prstGeom>
          <a:solidFill>
            <a:srgbClr val="1E1E30"/>
          </a:solidFill>
          <a:ln w="6350">
            <a:solidFill>
              <a:srgbClr val="3A1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2304288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78BFA"/>
                </a:solidFill>
              </a:rPr>
              <a:t>PHASE 3 · 6~9개월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263347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Pi 생태계 연동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3063240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BB"/>
                </a:solidFill>
              </a:rPr>
              <a:t>→ PICK 토큰 발행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3374136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BB"/>
                </a:solidFill>
              </a:rPr>
              <a:t>→ Pi Network 완전 연동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3685032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BB"/>
                </a:solidFill>
              </a:rPr>
              <a:t>→ Pi 결제 구독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3995928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BB"/>
                </a:solidFill>
              </a:rPr>
              <a:t>→ PICK PICK 공유 지갑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4306824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BB"/>
                </a:solidFill>
              </a:rPr>
              <a:t>→ Pi 유저 마이그레이션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89720" y="2194560"/>
            <a:ext cx="2743200" cy="4297680"/>
          </a:xfrm>
          <a:prstGeom prst="roundRect">
            <a:avLst/>
          </a:prstGeom>
          <a:solidFill>
            <a:srgbClr val="1E1E30"/>
          </a:solidFill>
          <a:ln w="6350">
            <a:solidFill>
              <a:srgbClr val="3A1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26880" y="2304288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78BFA"/>
                </a:solidFill>
              </a:rPr>
              <a:t>PHASE 4 · 9~18개월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0" y="263347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글로벌 확장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0" y="3063240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BB"/>
                </a:solidFill>
              </a:rPr>
              <a:t>→ React Native 앱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0" y="3374136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BB"/>
                </a:solidFill>
              </a:rPr>
              <a:t>→ 일본 · 베트남 진출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6880" y="3685032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BB"/>
                </a:solidFill>
              </a:rPr>
              <a:t>→ B2B API 제공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0" y="3995928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BB"/>
                </a:solidFill>
              </a:rPr>
              <a:t>→ 쇼핑몰 임베드 SDK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80" y="4306824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BB"/>
                </a:solidFill>
              </a:rPr>
              <a:t>→ IPO 준비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0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2377440" cy="347472"/>
          </a:xfrm>
          <a:prstGeom prst="roundRect">
            <a:avLst/>
          </a:prstGeom>
          <a:solidFill>
            <a:srgbClr val="3A1A7A"/>
          </a:solidFill>
          <a:ln w="6350">
            <a:solidFill>
              <a:srgbClr val="3A1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02336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A78BFA"/>
                </a:solidFill>
              </a:rPr>
              <a:t>PI NETWORK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Pi Network</a:t>
            </a:r>
          </a:p>
          <a:p>
            <a:pPr algn="ctr"/>
            <a:r>
              <a:rPr sz="3000" b="1">
                <a:solidFill>
                  <a:srgbClr val="E879F9"/>
                </a:solidFill>
              </a:rPr>
              <a:t>연동 전략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194560"/>
            <a:ext cx="3657600" cy="4389120"/>
          </a:xfrm>
          <a:prstGeom prst="roundRect">
            <a:avLst/>
          </a:prstGeom>
          <a:solidFill>
            <a:srgbClr val="1E1E30"/>
          </a:solidFill>
          <a:ln w="6350">
            <a:solidFill>
              <a:srgbClr val="3A1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🅰️ Plan A — Pi 활성화 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346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99BB"/>
                </a:solidFill>
              </a:rPr>
              <a:t>• Pi Browser 우선 배포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8211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99BB"/>
                </a:solidFill>
              </a:rPr>
              <a:t>• Basic = 4,000 PICK (18% 할인)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529584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99BB"/>
                </a:solidFill>
              </a:rPr>
              <a:t>• Pi 커뮤니티 MAU 즉시 확보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877056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99BB"/>
                </a:solidFill>
              </a:rPr>
              <a:t>• PICK PICK 배달앱과 토큰 공유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22452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99BB"/>
                </a:solidFill>
              </a:rPr>
              <a:t>• Pi → PICK 전환 지갑 제공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2194560"/>
            <a:ext cx="3657600" cy="4389120"/>
          </a:xfrm>
          <a:prstGeom prst="roundRect">
            <a:avLst/>
          </a:prstGeom>
          <a:solidFill>
            <a:srgbClr val="1E1E30"/>
          </a:solidFill>
          <a:ln w="6350">
            <a:solidFill>
              <a:srgbClr val="3A1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233172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🅱️ Plan B — Pi 지연 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8346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99BB"/>
                </a:solidFill>
              </a:rPr>
              <a:t>• 일반 소비자 서비스로 자동 전환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318211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99BB"/>
                </a:solidFill>
              </a:rPr>
              <a:t>• 카카오페이 · 토스페이 결제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3529584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99BB"/>
                </a:solidFill>
              </a:rPr>
              <a:t>• 환경변수 하나로 플랜 분기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3877056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99BB"/>
                </a:solidFill>
              </a:rPr>
              <a:t>• Pi 대기 중에도 서비스 지속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422452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99BB"/>
                </a:solidFill>
              </a:rPr>
              <a:t>• Mainnet 개방 시 즉시 전환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2194560"/>
            <a:ext cx="3657600" cy="4389120"/>
          </a:xfrm>
          <a:prstGeom prst="roundRect">
            <a:avLst/>
          </a:prstGeom>
          <a:solidFill>
            <a:srgbClr val="1E1E30"/>
          </a:solidFill>
          <a:ln w="6350">
            <a:solidFill>
              <a:srgbClr val="3A1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233172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🔗 PICK PICK 시너지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8346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99BB"/>
                </a:solidFill>
              </a:rPr>
              <a:t>• 배달앱 + 피팅앱 PICK 생태계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318211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99BB"/>
                </a:solidFill>
              </a:rPr>
              <a:t>• 공유 지갑 · 공유 회원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3529584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99BB"/>
                </a:solidFill>
              </a:rPr>
              <a:t>• 패션 → 배달 크로스 프로모션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3877056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99BB"/>
                </a:solidFill>
              </a:rPr>
              <a:t>• Pi 유저베이스 공유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422452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99BB"/>
                </a:solidFill>
              </a:rPr>
              <a:t>• 원 플랫폼, 멀티 서비스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2377440" cy="347472"/>
          </a:xfrm>
          <a:prstGeom prst="roundRect">
            <a:avLst/>
          </a:prstGeom>
          <a:solidFill>
            <a:srgbClr val="3A1A7A"/>
          </a:solidFill>
          <a:ln w="6350">
            <a:solidFill>
              <a:srgbClr val="3A1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02336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A78BFA"/>
                </a:solidFill>
              </a:rPr>
              <a:t>NORTH STAR METRIC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주간 피팅 완료 수</a:t>
            </a:r>
          </a:p>
          <a:p>
            <a:pPr algn="ctr"/>
            <a:r>
              <a:rPr sz="2800" b="1">
                <a:solidFill>
                  <a:srgbClr val="E879F9"/>
                </a:solidFill>
              </a:rPr>
              <a:t>6개월 KPI 목표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286000"/>
            <a:ext cx="2651760" cy="3200400"/>
          </a:xfrm>
          <a:prstGeom prst="roundRect">
            <a:avLst/>
          </a:prstGeom>
          <a:solidFill>
            <a:srgbClr val="281050"/>
          </a:solidFill>
          <a:ln w="101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74320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E879F9"/>
                </a:solidFill>
              </a:rPr>
              <a:t>10,000명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2044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999BB"/>
                </a:solidFill>
              </a:rPr>
              <a:t>MAU 목표
(6개월 내)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2286000"/>
            <a:ext cx="2651760" cy="3200400"/>
          </a:xfrm>
          <a:prstGeom prst="roundRect">
            <a:avLst/>
          </a:prstGeom>
          <a:solidFill>
            <a:srgbClr val="281050"/>
          </a:solidFill>
          <a:ln w="101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274320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E879F9"/>
                </a:solidFill>
              </a:rPr>
              <a:t>5,000회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352044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999BB"/>
                </a:solidFill>
              </a:rPr>
              <a:t>월간 피팅
완료 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2286000"/>
            <a:ext cx="2651760" cy="3200400"/>
          </a:xfrm>
          <a:prstGeom prst="roundRect">
            <a:avLst/>
          </a:prstGeom>
          <a:solidFill>
            <a:srgbClr val="281050"/>
          </a:solidFill>
          <a:ln w="101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274320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E879F9"/>
                </a:solidFill>
              </a:rPr>
              <a:t>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352044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999BB"/>
                </a:solidFill>
              </a:rPr>
              <a:t>유료
전환율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2286000"/>
            <a:ext cx="2651760" cy="3200400"/>
          </a:xfrm>
          <a:prstGeom prst="roundRect">
            <a:avLst/>
          </a:prstGeom>
          <a:solidFill>
            <a:srgbClr val="281050"/>
          </a:solidFill>
          <a:ln w="101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0" y="274320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E879F9"/>
                </a:solidFill>
              </a:rPr>
              <a:t>10%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352044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999BB"/>
                </a:solidFill>
              </a:rPr>
              <a:t>D30
리텐션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D0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1500000">
            <a:off x="8229600" y="3657600"/>
            <a:ext cx="4572000" cy="457200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663440" y="1188720"/>
            <a:ext cx="2377440" cy="347472"/>
          </a:xfrm>
          <a:prstGeom prst="roundRect">
            <a:avLst/>
          </a:prstGeom>
          <a:solidFill>
            <a:srgbClr val="3A1A7A"/>
          </a:solidFill>
          <a:ln w="6350">
            <a:solidFill>
              <a:srgbClr val="3A1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79" y="1225296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A78BFA"/>
                </a:solidFill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>
                <a:solidFill>
                  <a:srgbClr val="FFFFFF"/>
                </a:solidFill>
              </a:rPr>
              <a:t>픽!  한 번에 핏!</a:t>
            </a:r>
          </a:p>
          <a:p>
            <a:pPr algn="ctr"/>
            <a:r>
              <a:rPr sz="2200">
                <a:solidFill>
                  <a:srgbClr val="E879F9"/>
                </a:solidFill>
              </a:rPr>
              <a:t>AI 피팅룸, PICK FIT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4663440"/>
            <a:ext cx="5760720" cy="1828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8463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999BB"/>
                </a:solidFill>
              </a:rPr>
              <a:t>Boutique (KANG SEONGSHIN)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2578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77799"/>
                </a:solidFill>
              </a:rPr>
              <a:t>Pi Network 생태계 기반  ·  PICK FIT + PICK PICK — 원 생태계, 멀티 서비스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